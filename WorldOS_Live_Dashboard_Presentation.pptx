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Revenue by Stream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Float Yield &amp; Fees</c:v>
                </c:pt>
              </c:strCache>
            </c:strRef>
          </c:tx>
          <c:spPr>
            <a:solidFill>
              <a:srgbClr val="0FB5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</c:v>
                </c:pt>
                <c:pt idx="1">
                  <c:v>0.7</c:v>
                </c:pt>
                <c:pt idx="2">
                  <c:v>2.4</c:v>
                </c:pt>
                <c:pt idx="3">
                  <c:v>7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Agent Services</c:v>
                </c:pt>
              </c:strCache>
            </c:strRef>
          </c:tx>
          <c:spPr>
            <a:solidFill>
              <a:srgbClr val="1A6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0.03</c:v>
                </c:pt>
                <c:pt idx="1">
                  <c:v>0.3</c:v>
                </c:pt>
                <c:pt idx="2">
                  <c:v>1.5</c:v>
                </c:pt>
                <c:pt idx="3">
                  <c:v>5</c:v>
                </c:pt>
                <c:pt idx="4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Impact Fund Mgmt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Platform Licensing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0.1</c:v>
                </c:pt>
                <c:pt idx="3">
                  <c:v>0.5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AAB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0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EBITDA Margin Trajectory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%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A6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-35</c:v>
                </c:pt>
                <c:pt idx="1">
                  <c:v>32</c:v>
                </c:pt>
                <c:pt idx="2">
                  <c:v>37</c:v>
                </c:pt>
                <c:pt idx="3">
                  <c:v>43</c:v>
                </c:pt>
                <c:pt idx="4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A6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0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A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0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804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OS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F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 Intelligence Dashboard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72491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v1.0  ·  CCAvenue Integration  ·  Real-Time Yield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200400"/>
            <a:ext cx="8412480" cy="2286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337560"/>
            <a:ext cx="2011680" cy="1280160"/>
          </a:xfrm>
          <a:prstGeom prst="rect">
            <a:avLst/>
          </a:prstGeom>
          <a:solidFill>
            <a:srgbClr val="1A2E42"/>
          </a:solidFill>
          <a:ln w="19050">
            <a:solidFill>
              <a:srgbClr val="0FB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340156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FLOAT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₹4.0 Lakh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514600" y="3337560"/>
            <a:ext cx="2011680" cy="1280160"/>
          </a:xfrm>
          <a:prstGeom prst="rect">
            <a:avLst/>
          </a:prstGeom>
          <a:solidFill>
            <a:srgbClr val="1A2E4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24328" y="340156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TODAY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3639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₹79 / day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63440" y="3337560"/>
            <a:ext cx="2011680" cy="1280160"/>
          </a:xfrm>
          <a:prstGeom prst="rect">
            <a:avLst/>
          </a:prstGeom>
          <a:solidFill>
            <a:srgbClr val="1A2E42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340156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CAPITAL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639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₹2.6 Lakh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12280" y="3337560"/>
            <a:ext cx="2011680" cy="1280160"/>
          </a:xfrm>
          <a:prstGeom prst="rect">
            <a:avLst/>
          </a:prstGeom>
          <a:solidFill>
            <a:srgbClr val="1A2E42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22008" y="340156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PROJ.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36393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₹71,014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Jagatjyoti Mohanty  ·  Roll No. 38/2025  ·  CXO Batch 4  ·  XLRI Jamshedpur  · 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Float Mechanism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gateway holds your money for 1-3 days before settling. World OS makes that idle window earn.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72768" cy="2606040"/>
          </a:xfrm>
          <a:prstGeom prst="rect">
            <a:avLst/>
          </a:prstGeom>
          <a:solidFill>
            <a:srgbClr val="132030"/>
          </a:solidFill>
          <a:ln w="19050">
            <a:solidFill>
              <a:srgbClr val="1A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572768" cy="54864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1261872"/>
            <a:ext cx="457200" cy="457200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7472" y="230428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Made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₹50,000 via CCAvenue gateway to merchant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74520" y="2487168"/>
            <a:ext cx="91440" cy="0"/>
          </a:xfrm>
          <a:prstGeom prst="line">
            <a:avLst/>
          </a:prstGeom>
          <a:noFill/>
          <a:ln w="19050">
            <a:solidFill>
              <a:srgbClr val="8AAA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6232" y="23774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ABB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93392" y="1188720"/>
            <a:ext cx="1572768" cy="2606040"/>
          </a:xfrm>
          <a:prstGeom prst="rect">
            <a:avLst/>
          </a:prstGeom>
          <a:solidFill>
            <a:srgbClr val="13203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1188720"/>
            <a:ext cx="157276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1176" y="126187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84832" y="181051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66544" y="230428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Float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84832" y="269748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sits idle in gateway for 1-3 business days before reaching bank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93592" y="2487168"/>
            <a:ext cx="91440" cy="0"/>
          </a:xfrm>
          <a:prstGeom prst="line">
            <a:avLst/>
          </a:prstGeom>
          <a:noFill/>
          <a:ln w="19050">
            <a:solidFill>
              <a:srgbClr val="8AAA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23774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ABB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12464" y="1188720"/>
            <a:ext cx="1572768" cy="2606040"/>
          </a:xfrm>
          <a:prstGeom prst="rect">
            <a:avLst/>
          </a:prstGeom>
          <a:solidFill>
            <a:srgbClr val="132030"/>
          </a:solidFill>
          <a:ln w="19050">
            <a:solidFill>
              <a:srgbClr val="0FB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12464" y="1188720"/>
            <a:ext cx="1572768" cy="54864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70248" y="1261872"/>
            <a:ext cx="457200" cy="457200"/>
          </a:xfrm>
          <a:prstGeom prst="ellipse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0248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03904" y="181051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785616" y="230428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OS Invests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03904" y="269748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auto-routes float to Nippon/HDFC liquid fund at 7.2% p.a.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12664" y="2487168"/>
            <a:ext cx="91440" cy="0"/>
          </a:xfrm>
          <a:prstGeom prst="line">
            <a:avLst/>
          </a:prstGeom>
          <a:noFill/>
          <a:ln w="19050">
            <a:solidFill>
              <a:srgbClr val="8AAA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4376" y="23774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AB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31536" y="1188720"/>
            <a:ext cx="1572768" cy="2606040"/>
          </a:xfrm>
          <a:prstGeom prst="rect">
            <a:avLst/>
          </a:prstGeom>
          <a:solidFill>
            <a:srgbClr val="13203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31536" y="1188720"/>
            <a:ext cx="1572768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89320" y="1261872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22976" y="181051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504688" y="230428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Generated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22976" y="269748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₹29/day on ₹1.5L float — fully passive, zero risk to merchant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31736" y="2487168"/>
            <a:ext cx="91440" cy="0"/>
          </a:xfrm>
          <a:prstGeom prst="line">
            <a:avLst/>
          </a:prstGeom>
          <a:noFill/>
          <a:ln w="19050">
            <a:solidFill>
              <a:srgbClr val="8AAA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13448" y="237744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ABB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150608" y="1188720"/>
            <a:ext cx="1572768" cy="2606040"/>
          </a:xfrm>
          <a:prstGeom prst="rect">
            <a:avLst/>
          </a:prstGeom>
          <a:solidFill>
            <a:srgbClr val="13203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50608" y="1188720"/>
            <a:ext cx="1572768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08392" y="1261872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8392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42048" y="1810512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223760" y="230428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Routed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42048" y="269748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yield flows into World OS problem-solving capital pool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931920"/>
            <a:ext cx="8595360" cy="749808"/>
          </a:xfrm>
          <a:prstGeom prst="rect">
            <a:avLst/>
          </a:prstGeom>
          <a:solidFill>
            <a:srgbClr val="1A2E42"/>
          </a:solidFill>
          <a:ln w="19050">
            <a:solidFill>
              <a:srgbClr val="0FB5A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0599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Zero risk to merchant  ·  Fully automated by AI agents  ·  Legal under existing RBI/SEBI frameworks  ·  Merchant keeps 90% of yield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28016"/>
            <a:ext cx="219456" cy="21945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 —  CCAvenue POC v1.0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40233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Updated: 2:45 AM  |  Settlement Cycle: T+3  |  Rate: 7.2% p.a.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1993392" cy="1234440"/>
          </a:xfrm>
          <a:prstGeom prst="rect">
            <a:avLst/>
          </a:prstGeom>
          <a:solidFill>
            <a:srgbClr val="132030"/>
          </a:solidFill>
          <a:ln w="25400">
            <a:solidFill>
              <a:srgbClr val="0FB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1993392" cy="54864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595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FLOAT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₹4.0L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618488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Calculating...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749808"/>
            <a:ext cx="1993392" cy="1234440"/>
          </a:xfrm>
          <a:prstGeom prst="rect">
            <a:avLst/>
          </a:prstGeom>
          <a:solidFill>
            <a:srgbClr val="13203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749808"/>
            <a:ext cx="199339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8595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TODAY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0972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14600" y="1618488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7.2% p.a. rate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26280" y="749808"/>
            <a:ext cx="1993392" cy="1234440"/>
          </a:xfrm>
          <a:prstGeom prst="rect">
            <a:avLst/>
          </a:prstGeom>
          <a:solidFill>
            <a:srgbClr val="132030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749808"/>
            <a:ext cx="1993392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859536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CASH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10972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₹2.6L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63440" y="1618488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total float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0" y="749808"/>
            <a:ext cx="2148840" cy="1234440"/>
          </a:xfrm>
          <a:prstGeom prst="rect">
            <a:avLst/>
          </a:prstGeom>
          <a:solidFill>
            <a:srgbClr val="132030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749808"/>
            <a:ext cx="214884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8595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PROJECTION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₹71,014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12280" y="161848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Compound growth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121408"/>
            <a:ext cx="4114800" cy="2606040"/>
          </a:xfrm>
          <a:prstGeom prst="rect">
            <a:avLst/>
          </a:prstGeom>
          <a:solidFill>
            <a:srgbClr val="132030"/>
          </a:solidFill>
          <a:ln w="12700">
            <a:solidFill>
              <a:srgbClr val="1A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SETTLEMENT COUNTDOWN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578608"/>
            <a:ext cx="384048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2990088"/>
            <a:ext cx="3749040" cy="91440"/>
          </a:xfrm>
          <a:prstGeom prst="rect">
            <a:avLst/>
          </a:prstGeom>
          <a:solidFill>
            <a:srgbClr val="1E3045"/>
          </a:solidFill>
          <a:ln w="12700">
            <a:solidFill>
              <a:srgbClr val="1E30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990088"/>
            <a:ext cx="1124712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6334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TXN-8363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72768" y="2633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Settles: TODAY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17520" y="26243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₹20,000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4048" y="28529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remaining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264408"/>
            <a:ext cx="384048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675888"/>
            <a:ext cx="3749040" cy="91440"/>
          </a:xfrm>
          <a:prstGeom prst="rect">
            <a:avLst/>
          </a:prstGeom>
          <a:solidFill>
            <a:srgbClr val="1E3045"/>
          </a:solidFill>
          <a:ln w="12700">
            <a:solidFill>
              <a:srgbClr val="1E30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675888"/>
            <a:ext cx="2249424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3192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TXN-6194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72768" y="33192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Settles: TOMORROW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017520" y="33101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₹17,500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4048" y="35387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 remaining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950208"/>
            <a:ext cx="3840480" cy="566928"/>
          </a:xfrm>
          <a:prstGeom prst="rect">
            <a:avLst/>
          </a:prstGeom>
          <a:solidFill>
            <a:srgbClr val="1A2E42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361688"/>
            <a:ext cx="3749040" cy="91440"/>
          </a:xfrm>
          <a:prstGeom prst="rect">
            <a:avLst/>
          </a:prstGeom>
          <a:solidFill>
            <a:srgbClr val="1E3045"/>
          </a:solidFill>
          <a:ln w="12700">
            <a:solidFill>
              <a:srgbClr val="1E30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4361688"/>
            <a:ext cx="3186684" cy="91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0050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TXN-8084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572768" y="4005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Settles: DAY AFTER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017520" y="39959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₹12,500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84048" y="42245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54h remaining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26280" y="2121408"/>
            <a:ext cx="4297680" cy="2606040"/>
          </a:xfrm>
          <a:prstGeom prst="rect">
            <a:avLst/>
          </a:prstGeom>
          <a:solidFill>
            <a:srgbClr val="1320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663440" y="21762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IDLE CASH OPPORTUNITY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166360" y="2487168"/>
            <a:ext cx="1280160" cy="1280160"/>
          </a:xfrm>
          <a:prstGeom prst="ellipse">
            <a:avLst/>
          </a:prstGeom>
          <a:solidFill>
            <a:srgbClr val="1A2E42"/>
          </a:solidFill>
          <a:ln w="101600">
            <a:solidFill>
              <a:srgbClr val="E74C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22392" y="2743200"/>
            <a:ext cx="768096" cy="768096"/>
          </a:xfrm>
          <a:prstGeom prst="ellipse">
            <a:avLst/>
          </a:prstGeom>
          <a:solidFill>
            <a:srgbClr val="132030"/>
          </a:solidFill>
          <a:ln w="12700">
            <a:solidFill>
              <a:srgbClr val="13203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22392" y="283464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5422392" y="3218688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37960" y="257860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AMOUNT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37960" y="276148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₹2.6 Lakh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537960" y="31089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COST OF INACTION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37960" y="32918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-₹51/day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6537960" y="363931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LOST YIELD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37960" y="382219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-₹1,539/mo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6537960" y="416966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INVESTED (7.2%)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37960" y="435254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+₹51/day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4526280" y="4407408"/>
            <a:ext cx="4297680" cy="292608"/>
          </a:xfrm>
          <a:prstGeom prst="rect">
            <a:avLst/>
          </a:prstGeom>
          <a:solidFill>
            <a:srgbClr val="1A2E42"/>
          </a:solidFill>
          <a:ln w="12700">
            <a:solidFill>
              <a:srgbClr val="2A3F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17720" y="444398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Invest ₹2.6L in liquid fund → ₹51/day earned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 Fund Yield Estimator  +  Recommended Funds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60520" cy="3291840"/>
          </a:xfrm>
          <a:prstGeom prst="rect">
            <a:avLst/>
          </a:prstGeom>
          <a:solidFill>
            <a:srgbClr val="132030"/>
          </a:solidFill>
          <a:ln w="19050">
            <a:solidFill>
              <a:srgbClr val="0FB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41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YIELD CALCULATOR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24358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Amount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207008"/>
            <a:ext cx="1554480" cy="292608"/>
          </a:xfrm>
          <a:prstGeom prst="rect">
            <a:avLst/>
          </a:prstGeom>
          <a:solidFill>
            <a:srgbClr val="1A2E42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225296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8105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Rate (%)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773936"/>
            <a:ext cx="1554480" cy="292608"/>
          </a:xfrm>
          <a:prstGeom prst="rect">
            <a:avLst/>
          </a:prstGeom>
          <a:solidFill>
            <a:srgbClr val="1A2E4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1792224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3774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2340864"/>
            <a:ext cx="1554480" cy="292608"/>
          </a:xfrm>
          <a:prstGeom prst="rect">
            <a:avLst/>
          </a:prstGeom>
          <a:solidFill>
            <a:srgbClr val="1A2E4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359152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944368"/>
            <a:ext cx="1810512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0FB5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80944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YIELD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314553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2359152" y="2944368"/>
            <a:ext cx="1810512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32304" y="2980944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EARNED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14016" y="314553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₹592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84048" y="3529584"/>
            <a:ext cx="1810512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66160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" y="373075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₹592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359152" y="3529584"/>
            <a:ext cx="1810512" cy="475488"/>
          </a:xfrm>
          <a:prstGeom prst="rect">
            <a:avLst/>
          </a:prstGeom>
          <a:solidFill>
            <a:srgbClr val="1A2E42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2304" y="3566160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414016" y="373075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₹7,200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0" y="749808"/>
            <a:ext cx="4297680" cy="3291840"/>
          </a:xfrm>
          <a:prstGeom prst="rect">
            <a:avLst/>
          </a:prstGeom>
          <a:solidFill>
            <a:srgbClr val="13203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18304" y="841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RECOMMENDED LIQUID FUNDS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234440"/>
            <a:ext cx="411480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2618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Liquid Fund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14813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· LOW RISK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79792" y="1261872"/>
            <a:ext cx="109728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9792" y="12618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3440" y="1801368"/>
            <a:ext cx="411480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8288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Liquid Fund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204825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· LOW RISK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79792" y="1828800"/>
            <a:ext cx="1097280" cy="347472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1828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63440" y="2368296"/>
            <a:ext cx="411480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3957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 Parikh Liquid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261518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· LOW RISK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479792" y="2395728"/>
            <a:ext cx="1097280" cy="347472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9792" y="23957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6.9%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63440" y="2935224"/>
            <a:ext cx="411480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29626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Short Duration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31821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 · MED RISK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79792" y="2962656"/>
            <a:ext cx="10972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79792" y="29626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8.1%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663440" y="3502152"/>
            <a:ext cx="4114800" cy="475488"/>
          </a:xfrm>
          <a:prstGeom prst="rect">
            <a:avLst/>
          </a:prstGeom>
          <a:solidFill>
            <a:srgbClr val="1A2E4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52958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Corporate Bond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54880" y="37490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· MED RISK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79792" y="3529584"/>
            <a:ext cx="10972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79792" y="35295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8.8%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28600" y="4169664"/>
            <a:ext cx="8641080" cy="713232"/>
          </a:xfrm>
          <a:prstGeom prst="rect">
            <a:avLst/>
          </a:prstGeom>
          <a:solidFill>
            <a:srgbClr val="1A2E42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27939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SCALE PROJECTION  →  100 merchants × ₹5L avg float × 7.2% = ₹1,972/day  ·  500 merchants = ₹9,863/day  ·  5,000 merchants = ₹98,630/day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 Financial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Self-funding model: Float yield funds operations · AI agent services bridge Year 1 · EBITDA 45% by Year 5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058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440680" y="1005840"/>
          <a:ext cx="3474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224528"/>
          <a:ext cx="8686800" cy="804672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554480"/>
                <a:gridCol w="1554480"/>
                <a:gridCol w="1371600"/>
              </a:tblGrid>
              <a:tr h="134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</a:tr>
              <a:tr h="134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₹3.7L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-₹1.3L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134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₹37L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134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 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₹2.4Cr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134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Y4 2029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₹10.5Cr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₹4.5Cr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134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Y5 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₹51Cr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OS — 5-Layer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autonomous, AI-operated, and self-optimizing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8686800" cy="694944"/>
          </a:xfrm>
          <a:prstGeom prst="rect">
            <a:avLst/>
          </a:prstGeom>
          <a:solidFill>
            <a:srgbClr val="132030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87552"/>
            <a:ext cx="640080" cy="69494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87552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06070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81328" y="10424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OUTPUT LAYER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81328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metric: does every decision increase equality?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17043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Index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17043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88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0" y="117043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1887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Logic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1773936"/>
            <a:ext cx="8686800" cy="694944"/>
          </a:xfrm>
          <a:prstGeom prst="rect">
            <a:avLst/>
          </a:prstGeom>
          <a:solidFill>
            <a:srgbClr val="132030"/>
          </a:solidFill>
          <a:ln w="25400">
            <a:solidFill>
              <a:srgbClr val="1A6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773936"/>
            <a:ext cx="640080" cy="694944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177393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184708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81328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PHYSICAL NETWORK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81328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contracted only for physical tasks — managed by agents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95681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975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195681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975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Payment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98080" y="1956816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975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Verification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560320"/>
            <a:ext cx="8686800" cy="694944"/>
          </a:xfrm>
          <a:prstGeom prst="rect">
            <a:avLst/>
          </a:prstGeom>
          <a:solidFill>
            <a:srgbClr val="132030"/>
          </a:solidFill>
          <a:ln w="25400">
            <a:solidFill>
              <a:srgbClr val="0FB5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560320"/>
            <a:ext cx="640080" cy="694944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560320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263347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481328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NETWORK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481328" y="2889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agents: research, outreach, contracting, reporting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74320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7614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Outreach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274320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7614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Research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98080" y="2743200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27614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N: Scale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28600" y="3346704"/>
            <a:ext cx="8686800" cy="694944"/>
          </a:xfrm>
          <a:prstGeom prst="rect">
            <a:avLst/>
          </a:prstGeom>
          <a:solidFill>
            <a:srgbClr val="132030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3346704"/>
            <a:ext cx="640080" cy="6949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3346704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60120" y="34198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481328" y="34015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CORE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481328" y="3675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problems, ranks urgency, allocates capital, tracks outcomes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46320" y="352958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547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Scan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72200" y="352958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3547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Route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498080" y="3529584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3547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28600" y="4133088"/>
            <a:ext cx="8686800" cy="694944"/>
          </a:xfrm>
          <a:prstGeom prst="rect">
            <a:avLst/>
          </a:prstGeom>
          <a:solidFill>
            <a:srgbClr val="13203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4133088"/>
            <a:ext cx="640080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8600" y="413308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60120" y="42062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1481328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ENGINE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481328" y="4462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mechanism → liquid fund → yield → World OS pool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46320" y="431596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43342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CCAvenue Float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72200" y="431596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2200" y="43342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 API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498080" y="4315968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1A2E4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0" y="433425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Dashboard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Merchant Network — Onboarding &amp; Growth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572768" cy="2240280"/>
          </a:xfrm>
          <a:prstGeom prst="rect">
            <a:avLst/>
          </a:prstGeom>
          <a:solidFill>
            <a:srgbClr val="132030"/>
          </a:solidFill>
          <a:ln w="19050">
            <a:solidFill>
              <a:srgbClr val="1A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1572768" cy="54864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896112"/>
            <a:ext cx="457200" cy="457200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" y="142646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3898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1 sends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outreach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MSME owner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19656" y="14173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AAB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65960" y="822960"/>
            <a:ext cx="1572768" cy="2240280"/>
          </a:xfrm>
          <a:prstGeom prst="rect">
            <a:avLst/>
          </a:prstGeom>
          <a:solidFill>
            <a:srgbClr val="132030"/>
          </a:solidFill>
          <a:ln w="19050">
            <a:solidFill>
              <a:srgbClr val="0FB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822960"/>
            <a:ext cx="1572768" cy="54864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896112"/>
            <a:ext cx="457200" cy="457200"/>
          </a:xfrm>
          <a:prstGeom prst="ellipse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9112" y="142646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1737360"/>
            <a:ext cx="13898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₹ they 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daily (idle)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57016" y="14173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AAB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822960"/>
            <a:ext cx="1572768" cy="2240280"/>
          </a:xfrm>
          <a:prstGeom prst="rect">
            <a:avLst/>
          </a:prstGeom>
          <a:solidFill>
            <a:srgbClr val="13203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3320" y="822960"/>
            <a:ext cx="157276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1104" y="89611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1104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76472" y="142646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94760" y="1737360"/>
            <a:ext cx="13898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shared;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CCAvenue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in &lt;10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94376" y="14173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AAB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0680" y="822960"/>
            <a:ext cx="1572768" cy="2240280"/>
          </a:xfrm>
          <a:prstGeom prst="rect">
            <a:avLst/>
          </a:prstGeom>
          <a:solidFill>
            <a:srgbClr val="13203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40680" y="822960"/>
            <a:ext cx="1572768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98464" y="896112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98464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13832" y="142646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Auto-Invest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1737360"/>
            <a:ext cx="13898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float auto-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liquid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daily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31736" y="141732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AAB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78040" y="822960"/>
            <a:ext cx="1572768" cy="2240280"/>
          </a:xfrm>
          <a:prstGeom prst="rect">
            <a:avLst/>
          </a:prstGeom>
          <a:solidFill>
            <a:srgbClr val="13203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78040" y="822960"/>
            <a:ext cx="1572768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35824" y="896112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35824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51192" y="142646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&amp; Report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69480" y="1737360"/>
            <a:ext cx="13898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credited;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updated;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3218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Growth Milestones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547872"/>
          <a:ext cx="5029200" cy="13716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554480"/>
                <a:gridCol w="15544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Yield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 ✅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(own)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₹79/day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 Lakh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₹197/day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 Lakh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₹1,972/day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 Crore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₹19,726/day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 Crore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₹2.7 Crore/day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₹5,000 Crore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5440680" y="3200400"/>
            <a:ext cx="3474720" cy="1719072"/>
          </a:xfrm>
          <a:prstGeom prst="rect">
            <a:avLst/>
          </a:prstGeom>
          <a:solidFill>
            <a:srgbClr val="13203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577840" y="3273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577840" y="36393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₹50L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06640" y="363931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 IRR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5577840" y="40416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₹2Cr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406640" y="404164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~87% IRR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577840" y="444398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₹10Cr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406640" y="44439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~92% IRR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 &amp;  Deployment Architecture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68096"/>
          <a:ext cx="8686800" cy="301752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834640"/>
                <a:gridCol w="13716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/ Dash (Python)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 &amp; merchant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POC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calc, yield engine,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CCAvenue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 float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Integrated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Groww / Zerodha Coin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liquid fund investment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Month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outreach,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(PostgreSQL)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data, yield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Month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/ Render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server, zero-downtime deploy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Deployable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 + Uptime Robot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tracking, uptime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AAB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3913632"/>
            <a:ext cx="8686800" cy="932688"/>
          </a:xfrm>
          <a:prstGeom prst="rect">
            <a:avLst/>
          </a:prstGeom>
          <a:solidFill>
            <a:srgbClr val="0A1520"/>
          </a:solidFill>
          <a:ln w="19050">
            <a:solidFill>
              <a:srgbClr val="0FB5A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39867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-r requirements.txt  &amp;&amp;  python dashboard.py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42793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B5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Dashboard live at  http://localhost:8501  |  Deploy:  railway up  OR  render deploy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7863840" cy="0"/>
          </a:xfrm>
          <a:prstGeom prst="line">
            <a:avLst/>
          </a:prstGeom>
          <a:noFill/>
          <a:ln w="25400">
            <a:solidFill>
              <a:srgbClr val="2A3F5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024128" y="1865376"/>
            <a:ext cx="320040" cy="320040"/>
          </a:xfrm>
          <a:prstGeom prst="ellipse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658368"/>
            <a:ext cx="1554480" cy="1097280"/>
          </a:xfrm>
          <a:prstGeom prst="rect">
            <a:avLst/>
          </a:prstGeom>
          <a:solidFill>
            <a:srgbClr val="132030"/>
          </a:solidFill>
          <a:ln w="19050">
            <a:solidFill>
              <a:srgbClr val="0FB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71323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" y="10058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POC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22529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merchants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₹5Cr managed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problems solved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65860" y="1755648"/>
            <a:ext cx="0" cy="128016"/>
          </a:xfrm>
          <a:prstGeom prst="line">
            <a:avLst/>
          </a:prstGeom>
          <a:noFill/>
          <a:ln w="19050">
            <a:solidFill>
              <a:srgbClr val="0FB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8336" y="1865376"/>
            <a:ext cx="320040" cy="320040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21408" y="658368"/>
            <a:ext cx="1554480" cy="1097280"/>
          </a:xfrm>
          <a:prstGeom prst="rect">
            <a:avLst/>
          </a:prstGeom>
          <a:solidFill>
            <a:srgbClr val="132030"/>
          </a:solidFill>
          <a:ln w="19050">
            <a:solidFill>
              <a:srgbClr val="1A6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71323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F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4560" y="10058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122529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merchants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₹50Cr managed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closed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30068" y="1755648"/>
            <a:ext cx="0" cy="128016"/>
          </a:xfrm>
          <a:prstGeom prst="line">
            <a:avLst/>
          </a:prstGeom>
          <a:noFill/>
          <a:ln w="19050">
            <a:solidFill>
              <a:srgbClr val="1A6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52544" y="1865376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85616" y="658368"/>
            <a:ext cx="1554480" cy="1097280"/>
          </a:xfrm>
          <a:prstGeom prst="rect">
            <a:avLst/>
          </a:prstGeom>
          <a:solidFill>
            <a:srgbClr val="132030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58768" y="71323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58768" y="10058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SAARC + GCC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58768" y="122529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merchants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₹500Cr managed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fund live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94276" y="1755648"/>
            <a:ext cx="0" cy="12801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1865376"/>
            <a:ext cx="320040" cy="3200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9824" y="658368"/>
            <a:ext cx="1554480" cy="1097280"/>
          </a:xfrm>
          <a:prstGeom prst="rect">
            <a:avLst/>
          </a:prstGeom>
          <a:solidFill>
            <a:srgbClr val="132030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22976" y="71323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22976" y="10058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Asia-Pacific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22976" y="122529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merchants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₹5,000Cr float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recognition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58484" y="1755648"/>
            <a:ext cx="0" cy="128016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1865376"/>
            <a:ext cx="320040" cy="3200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658368"/>
            <a:ext cx="1554480" cy="1097280"/>
          </a:xfrm>
          <a:prstGeom prst="rect">
            <a:avLst/>
          </a:prstGeom>
          <a:solidFill>
            <a:srgbClr val="13203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87184" y="71323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87184" y="10058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87184" y="122529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merchants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 managed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 beneficiaries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22692" y="1755648"/>
            <a:ext cx="0" cy="128016"/>
          </a:xfrm>
          <a:prstGeom prst="line">
            <a:avLst/>
          </a:prstGeom>
          <a:noFill/>
          <a:ln w="19050">
            <a:solidFill>
              <a:srgbClr val="9B59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377440"/>
            <a:ext cx="8412480" cy="2331720"/>
          </a:xfrm>
          <a:prstGeom prst="rect">
            <a:avLst/>
          </a:prstGeom>
          <a:solidFill>
            <a:srgbClr val="132030"/>
          </a:solidFill>
          <a:ln w="25400">
            <a:solidFill>
              <a:srgbClr val="0FB5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235915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8" name="Text 36"/>
          <p:cNvSpPr/>
          <p:nvPr/>
        </p:nvSpPr>
        <p:spPr>
          <a:xfrm>
            <a:off x="594360" y="27432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money to fix the world already exists.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94360" y="327355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FB5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just building the pipe.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94360" y="38221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Jagatjyoti Mohanty  ·  Roll No. 38/2025  ·  CXO Batch 4  ·  XLRI Jamshedpur  ·  World OS Technologies  ·  2026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480560"/>
            <a:ext cx="182880" cy="1828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462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OPERATIONAL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44622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invest@worldos.in  ·  worldos.in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OS — Live Float Dashboard</dc:title>
  <dc:subject>PptxGenJS Presentation</dc:subject>
  <dc:creator>Jagatjyoti Mohanty | Roll 38/2025 | XLRI CXO Batch 4</dc:creator>
  <cp:lastModifiedBy>Jagatjyoti Mohanty | Roll 38/2025 | XLRI CXO Batch 4</cp:lastModifiedBy>
  <cp:revision>1</cp:revision>
  <dcterms:created xsi:type="dcterms:W3CDTF">2026-04-13T16:29:05Z</dcterms:created>
  <dcterms:modified xsi:type="dcterms:W3CDTF">2026-04-13T16:29:05Z</dcterms:modified>
</cp:coreProperties>
</file>